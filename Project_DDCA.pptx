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594360"/>
            <a:ext cx="2103120" cy="2103120"/>
          </a:xfrm>
          <a:prstGeom prst="ellipse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1508760"/>
            <a:ext cx="1417320" cy="1417320"/>
          </a:xfrm>
          <a:prstGeom prst="ellipse">
            <a:avLst/>
          </a:prstGeom>
          <a:solidFill>
            <a:srgbClr val="307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2743200"/>
            <a:ext cx="777240" cy="777240"/>
          </a:xfrm>
          <a:prstGeom prst="ellipse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3154680"/>
            <a:ext cx="438912" cy="438912"/>
          </a:xfrm>
          <a:prstGeom prst="ellipse">
            <a:avLst/>
          </a:prstGeom>
          <a:solidFill>
            <a:srgbClr val="FF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658368"/>
            <a:ext cx="7040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BEB5"/>
                </a:solidFill>
                <a:latin typeface="Aptos"/>
              </a:rPr>
              <a:t>DIGITAL LOGIC DESIGN  /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34440"/>
            <a:ext cx="777240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Aptos"/>
              </a:rPr>
              <a:t>SEQUENTIAL LOGIC
CIRCUITS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852928"/>
            <a:ext cx="72237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DDCF0"/>
                </a:solidFill>
                <a:latin typeface="Aptos"/>
              </a:rPr>
              <a:t>SR Latch  •  D Flip-Flop  •  JK Flip-Flop  •  T Flip-Flop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015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ED8"/>
                </a:solidFill>
                <a:latin typeface="Aptos"/>
              </a:rPr>
              <a:t>A Logisim design and simulation 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069080"/>
            <a:ext cx="685800" cy="54864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370832"/>
            <a:ext cx="713232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2620040155 — Laasya Gayathri
2620040156 — Ananya
2620040159 — KVS Karthik
2620040160 — V Pavan Teja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263640"/>
            <a:ext cx="2240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DBEB5"/>
                </a:solidFill>
                <a:latin typeface="Aptos"/>
              </a:rPr>
              <a:t>STATE • MEMORY • TIMING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D1B35"/>
                </a:solidFill>
                <a:latin typeface="Aptos"/>
              </a:rPr>
              <a:t>Introduction: Memory &amp;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04672"/>
            <a:ext cx="566928" cy="50292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68B"/>
                </a:solidFill>
                <a:latin typeface="Aptos"/>
              </a:rPr>
              <a:t>02  •  SEQUENTIAL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1417320"/>
          </a:xfrm>
          <a:prstGeom prst="rect">
            <a:avLst/>
          </a:prstGeom>
          <a:solidFill>
            <a:srgbClr val="307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98448"/>
            <a:ext cx="496519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77DB"/>
                </a:solidFill>
                <a:latin typeface="Aptos"/>
              </a:rPr>
              <a:t>WHAT IS A SEQUENTIAL CIRCUIT?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18488"/>
            <a:ext cx="48006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Stores binary information (Q = 0 or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65376"/>
            <a:ext cx="48006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Output depends on inputs and previous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12264"/>
            <a:ext cx="48006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Feedback lets a circuit retain its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143000"/>
            <a:ext cx="5376672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143000"/>
            <a:ext cx="64008" cy="1417320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49926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BEB5"/>
                </a:solidFill>
                <a:latin typeface="Aptos"/>
              </a:rPr>
              <a:t>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1618488"/>
            <a:ext cx="48006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Design an SR latch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1865376"/>
            <a:ext cx="48006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Implement D, JK and T flip-flops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112264"/>
            <a:ext cx="4800600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Verify state changes with truth tables and Logisim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80360"/>
            <a:ext cx="3447288" cy="1508760"/>
          </a:xfrm>
          <a:prstGeom prst="roundRect">
            <a:avLst>
              <a:gd name="adj" fmla="val 12000"/>
            </a:avLst>
          </a:prstGeom>
          <a:solidFill>
            <a:srgbClr val="FFF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880360"/>
            <a:ext cx="64008" cy="1508760"/>
          </a:xfrm>
          <a:prstGeom prst="rect">
            <a:avLst/>
          </a:prstGeom>
          <a:solidFill>
            <a:srgbClr val="FF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035808"/>
            <a:ext cx="3063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B741"/>
                </a:solidFill>
                <a:latin typeface="Aptos"/>
              </a:rPr>
              <a:t>INPUTS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401568"/>
            <a:ext cx="299923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Control what happens to stored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880360"/>
            <a:ext cx="3447288" cy="1508760"/>
          </a:xfrm>
          <a:prstGeom prst="roundRect">
            <a:avLst>
              <a:gd name="adj" fmla="val 12000"/>
            </a:avLst>
          </a:prstGeom>
          <a:solidFill>
            <a:srgbClr val="E5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2880360"/>
            <a:ext cx="64008" cy="1508760"/>
          </a:xfrm>
          <a:prstGeom prst="rect">
            <a:avLst/>
          </a:prstGeom>
          <a:solidFill>
            <a:srgbClr val="307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035808"/>
            <a:ext cx="3063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77DB"/>
                </a:solidFill>
                <a:latin typeface="Aptos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401568"/>
            <a:ext cx="299923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Q is the stored bit; Q̅ is its complement.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7304" y="2880360"/>
            <a:ext cx="3447288" cy="1508760"/>
          </a:xfrm>
          <a:prstGeom prst="roundRect">
            <a:avLst>
              <a:gd name="adj" fmla="val 12000"/>
            </a:avLst>
          </a:prstGeom>
          <a:solidFill>
            <a:srgbClr val="E2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47304" y="2880360"/>
            <a:ext cx="64008" cy="1508760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035808"/>
            <a:ext cx="30632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BEB5"/>
                </a:solidFill>
                <a:latin typeface="Aptos"/>
              </a:rPr>
              <a:t>TIMING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7616" y="3401568"/>
            <a:ext cx="299923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A control level or clock edge determines when state can change.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80060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056632"/>
            <a:ext cx="104241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DBEB5"/>
                </a:solidFill>
                <a:latin typeface="Aptos"/>
              </a:rPr>
              <a:t>KEY NOTATION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04104"/>
            <a:ext cx="104241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Q(next) = next output state     •     ↑ = rising edge     •     ↓ = falling 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D1B35"/>
                </a:solidFill>
                <a:latin typeface="Aptos"/>
              </a:rPr>
              <a:t>SR Latch and D Flip-Flop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04672"/>
            <a:ext cx="566928" cy="50292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68B"/>
                </a:solidFill>
                <a:latin typeface="Aptos"/>
              </a:rPr>
              <a:t>03  •  SEQUENTIAL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532120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4983480"/>
          </a:xfrm>
          <a:prstGeom prst="rect">
            <a:avLst/>
          </a:prstGeom>
          <a:solidFill>
            <a:srgbClr val="307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98448"/>
            <a:ext cx="51480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77DB"/>
                </a:solidFill>
                <a:latin typeface="Aptos"/>
              </a:rPr>
              <a:t>SR LATCH — NOR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493776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Cross-coupled NOR gates feed each output back to the opposite gate.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13432"/>
            <a:ext cx="49377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D1B35"/>
                </a:solidFill>
                <a:latin typeface="Aptos"/>
              </a:rPr>
              <a:t>S sets Q = 1; R resets Q = 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788920"/>
            <a:ext cx="68580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825496"/>
            <a:ext cx="5760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2788920"/>
            <a:ext cx="68580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9344" y="2825496"/>
            <a:ext cx="5760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2788920"/>
            <a:ext cx="123444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5144" y="2825496"/>
            <a:ext cx="11247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Q(next)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788920"/>
            <a:ext cx="228600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825496"/>
            <a:ext cx="21762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172968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04972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172968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3204972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3172968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204972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Q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172968"/>
            <a:ext cx="2286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204972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Hold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3557015"/>
            <a:ext cx="6858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589020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3557015"/>
            <a:ext cx="6858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3589020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40280" y="3557015"/>
            <a:ext cx="123444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3589020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3557015"/>
            <a:ext cx="22860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0440" y="3589020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Reset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3941063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973068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3941063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00200" y="3973068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3941063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3973068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3941063"/>
            <a:ext cx="2286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3973068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Set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4325112"/>
            <a:ext cx="6858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357116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4325112"/>
            <a:ext cx="6858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00200" y="4357116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4325112"/>
            <a:ext cx="123444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86000" y="4357116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7464C"/>
                </a:solidFill>
                <a:latin typeface="Aptos"/>
              </a:rPr>
              <a:t>Invalid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0" y="4325112"/>
            <a:ext cx="22860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0440" y="4357116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7464C"/>
                </a:solidFill>
                <a:latin typeface="Aptos"/>
              </a:rPr>
              <a:t>Forbidden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4892040"/>
            <a:ext cx="48463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68B"/>
                </a:solidFill>
                <a:latin typeface="Aptos"/>
              </a:rPr>
              <a:t>NOR SR latch inputs are active-high.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1143000"/>
            <a:ext cx="5230368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1143000"/>
            <a:ext cx="64008" cy="4983480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56248" y="1298448"/>
            <a:ext cx="4846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BEB5"/>
                </a:solidFill>
                <a:latin typeface="Aptos"/>
              </a:rPr>
              <a:t>D FLIP-FLOP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1664208"/>
            <a:ext cx="466344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D42"/>
                </a:solidFill>
                <a:latin typeface="Aptos"/>
              </a:rPr>
              <a:t>At the active clock edge, the flip-flop copies D to Q. Between edges, Q holds its value.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2697480"/>
            <a:ext cx="2194560" cy="438912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75703" y="2734056"/>
            <a:ext cx="2084831" cy="36575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15400" y="2697480"/>
            <a:ext cx="2240280" cy="438912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70264" y="2734056"/>
            <a:ext cx="2130552" cy="365759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Q(next)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20840" y="3136392"/>
            <a:ext cx="21945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66559" y="3168396"/>
            <a:ext cx="2103120" cy="3749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15400" y="3136392"/>
            <a:ext cx="22402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20" y="3168396"/>
            <a:ext cx="2148840" cy="3749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20840" y="3575304"/>
            <a:ext cx="2194560" cy="438912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59" y="3607308"/>
            <a:ext cx="2103120" cy="3749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15400" y="3575304"/>
            <a:ext cx="2240280" cy="438912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61120" y="3607308"/>
            <a:ext cx="2148840" cy="3749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20840" y="4160520"/>
            <a:ext cx="4434840" cy="841248"/>
          </a:xfrm>
          <a:prstGeom prst="roundRect">
            <a:avLst>
              <a:gd name="adj" fmla="val 12000"/>
            </a:avLst>
          </a:prstGeom>
          <a:solidFill>
            <a:srgbClr val="E2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31152" y="4315968"/>
            <a:ext cx="397763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DBEB5"/>
                </a:solidFill>
                <a:latin typeface="Aptos"/>
              </a:rPr>
              <a:t>CHARACTERISTIC EQUATION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31152" y="4590288"/>
            <a:ext cx="397763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1B35"/>
                </a:solidFill>
                <a:latin typeface="Aptos"/>
              </a:rPr>
              <a:t>Q(next) = 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5230368"/>
            <a:ext cx="4389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68B"/>
                </a:solidFill>
                <a:latin typeface="Aptos"/>
              </a:rPr>
              <a:t>Use: registers and data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D1B35"/>
                </a:solidFill>
                <a:latin typeface="Aptos"/>
              </a:rPr>
              <a:t>JK and T Flip-Flops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04672"/>
            <a:ext cx="566928" cy="50292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68B"/>
                </a:solidFill>
                <a:latin typeface="Aptos"/>
              </a:rPr>
              <a:t>04  •  SEQUENTIAL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532120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4983480"/>
          </a:xfrm>
          <a:prstGeom prst="rect">
            <a:avLst/>
          </a:prstGeom>
          <a:solidFill>
            <a:srgbClr val="307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98448"/>
            <a:ext cx="514807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77DB"/>
                </a:solidFill>
                <a:latin typeface="Aptos"/>
              </a:rPr>
              <a:t>JK FLIP-FLOP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489204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The JK flip-flop removes the SR latch’s forbidden input case.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31720"/>
            <a:ext cx="68580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368296"/>
            <a:ext cx="5760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2331720"/>
            <a:ext cx="68580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9344" y="2368296"/>
            <a:ext cx="5760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2331720"/>
            <a:ext cx="123444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5144" y="2368296"/>
            <a:ext cx="11247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Q(next)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331720"/>
            <a:ext cx="228600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368296"/>
            <a:ext cx="21762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2715768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747772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715768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2747772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2715768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2747772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715768"/>
            <a:ext cx="2286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747772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3099815"/>
            <a:ext cx="6858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131820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3099815"/>
            <a:ext cx="6858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3131820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3099815"/>
            <a:ext cx="123444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3131820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099815"/>
            <a:ext cx="22860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3131820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Reset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" y="3483863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515868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54480" y="3483863"/>
            <a:ext cx="685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0200" y="3515868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3483863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3515868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3483863"/>
            <a:ext cx="22860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3515868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Set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8680" y="3867911"/>
            <a:ext cx="6858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3899915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3867911"/>
            <a:ext cx="6858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00200" y="3899915"/>
            <a:ext cx="5943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0280" y="3867911"/>
            <a:ext cx="123444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0" y="3899915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Q̅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0" y="3867911"/>
            <a:ext cx="228600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0440" y="3899915"/>
            <a:ext cx="219456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Toggle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4370832"/>
            <a:ext cx="4892040" cy="841248"/>
          </a:xfrm>
          <a:prstGeom prst="roundRect">
            <a:avLst>
              <a:gd name="adj" fmla="val 12000"/>
            </a:avLst>
          </a:prstGeom>
          <a:solidFill>
            <a:srgbClr val="E5EF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8992" y="4526280"/>
            <a:ext cx="4480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077DB"/>
                </a:solidFill>
                <a:latin typeface="Aptos"/>
              </a:rPr>
              <a:t>CHARACTERISTIC EQUATION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" y="4800600"/>
            <a:ext cx="4480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1B35"/>
                </a:solidFill>
                <a:latin typeface="Aptos"/>
              </a:rPr>
              <a:t>Q(next) = JQ̅ + K̅Q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1143000"/>
            <a:ext cx="5230368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5080" y="1143000"/>
            <a:ext cx="64008" cy="4983480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6248" y="1298448"/>
            <a:ext cx="4846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BEB5"/>
                </a:solidFill>
                <a:latin typeface="Aptos"/>
              </a:rPr>
              <a:t>T FLIP-FLOP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29400" y="1627632"/>
            <a:ext cx="45720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T = 0 holds the state. T = 1 toggles Q at the active clock edge.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2331720"/>
            <a:ext cx="64008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9983" y="2368296"/>
            <a:ext cx="53035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2331720"/>
            <a:ext cx="64008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0064" y="2368296"/>
            <a:ext cx="53035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Q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55279" y="2331720"/>
            <a:ext cx="123444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10144" y="2368296"/>
            <a:ext cx="112471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Q(next)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89719" y="2331720"/>
            <a:ext cx="2011680" cy="384048"/>
          </a:xfrm>
          <a:prstGeom prst="rect">
            <a:avLst/>
          </a:prstGeom>
          <a:solidFill>
            <a:srgbClr val="1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44584" y="2368296"/>
            <a:ext cx="190195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20" y="2715768"/>
            <a:ext cx="640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20840" y="2747772"/>
            <a:ext cx="5486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2715768"/>
            <a:ext cx="640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60920" y="2747772"/>
            <a:ext cx="5486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55279" y="2715768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01000" y="2747772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89719" y="2715768"/>
            <a:ext cx="2011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35440" y="2747772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Hold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120" y="3099815"/>
            <a:ext cx="64008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20840" y="3131820"/>
            <a:ext cx="5486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0" y="3099815"/>
            <a:ext cx="64008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60920" y="3131820"/>
            <a:ext cx="5486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955279" y="3099815"/>
            <a:ext cx="123444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01000" y="3131820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89719" y="3099815"/>
            <a:ext cx="201168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35440" y="3131820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Hold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75120" y="3483863"/>
            <a:ext cx="640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20840" y="3515868"/>
            <a:ext cx="5486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315200" y="3483863"/>
            <a:ext cx="6400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60920" y="3515868"/>
            <a:ext cx="5486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55279" y="3483863"/>
            <a:ext cx="123444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01000" y="3515868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89719" y="3483863"/>
            <a:ext cx="20116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35440" y="3515868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Toggle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75120" y="3867911"/>
            <a:ext cx="64008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20840" y="3899915"/>
            <a:ext cx="5486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00" y="3867911"/>
            <a:ext cx="64008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60920" y="3899915"/>
            <a:ext cx="5486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55279" y="3867911"/>
            <a:ext cx="123444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001000" y="3899915"/>
            <a:ext cx="1143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89719" y="3867911"/>
            <a:ext cx="2011680" cy="384048"/>
          </a:xfrm>
          <a:prstGeom prst="rect">
            <a:avLst/>
          </a:prstGeom>
          <a:solidFill>
            <a:srgbClr val="EDF3F9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35440" y="3899915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Toggle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675120" y="4370832"/>
            <a:ext cx="4526280" cy="841248"/>
          </a:xfrm>
          <a:prstGeom prst="roundRect">
            <a:avLst>
              <a:gd name="adj" fmla="val 12000"/>
            </a:avLst>
          </a:prstGeom>
          <a:solidFill>
            <a:srgbClr val="E2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885432" y="4526280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DBEB5"/>
                </a:solidFill>
                <a:latin typeface="Aptos"/>
              </a:rPr>
              <a:t>CHARACTERISTIC EQUATION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85432" y="480060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D1B35"/>
                </a:solidFill>
                <a:latin typeface="Aptos"/>
              </a:rPr>
              <a:t>Q(next) = T ⊕ 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D1B35"/>
                </a:solidFill>
                <a:latin typeface="Aptos"/>
              </a:rPr>
              <a:t>Timing, Logisim Design &amp; Test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04672"/>
            <a:ext cx="566928" cy="50292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68B"/>
                </a:solidFill>
                <a:latin typeface="Aptos"/>
              </a:rPr>
              <a:t>05  •  SEQUENTIAL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349240" cy="1417320"/>
          </a:xfrm>
          <a:prstGeom prst="roundRect">
            <a:avLst>
              <a:gd name="adj" fmla="val 12000"/>
            </a:avLst>
          </a:prstGeom>
          <a:solidFill>
            <a:srgbClr val="FFF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1417320"/>
          </a:xfrm>
          <a:prstGeom prst="rect">
            <a:avLst/>
          </a:prstGeom>
          <a:solidFill>
            <a:srgbClr val="FFB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98448"/>
            <a:ext cx="496519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B741"/>
                </a:solidFill>
                <a:latin typeface="Aptos"/>
              </a:rPr>
              <a:t>LEVEL-TRIGGERED LATCH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27632"/>
            <a:ext cx="470916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D42"/>
                </a:solidFill>
                <a:latin typeface="Aptos"/>
              </a:rPr>
              <a:t>Responds while enable is at its active level. Input changes can affect output during the enabled interval.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143000"/>
            <a:ext cx="5376672" cy="1417320"/>
          </a:xfrm>
          <a:prstGeom prst="roundRect">
            <a:avLst>
              <a:gd name="adj" fmla="val 12000"/>
            </a:avLst>
          </a:prstGeom>
          <a:solidFill>
            <a:srgbClr val="E2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143000"/>
            <a:ext cx="64008" cy="1417320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98448"/>
            <a:ext cx="49926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BEB5"/>
                </a:solidFill>
                <a:latin typeface="Aptos"/>
              </a:rPr>
              <a:t>EDGE-TRIGGERED FLIP-FLOP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27632"/>
            <a:ext cx="4736592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D42"/>
                </a:solidFill>
                <a:latin typeface="Aptos"/>
              </a:rPr>
              <a:t>Captures input only at a clock transition (↑ or ↓). Output normally holds between clock edges.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534924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880360"/>
            <a:ext cx="64008" cy="2514600"/>
          </a:xfrm>
          <a:prstGeom prst="rect">
            <a:avLst/>
          </a:prstGeom>
          <a:solidFill>
            <a:srgbClr val="307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035808"/>
            <a:ext cx="496519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77DB"/>
                </a:solidFill>
                <a:latin typeface="Aptos"/>
              </a:rPr>
              <a:t>IMPLEMENT IN LOGISIM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01568"/>
            <a:ext cx="46634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D42"/>
                </a:solidFill>
                <a:latin typeface="Aptos"/>
              </a:rPr>
              <a:t>•  Create a separate circuit for each element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85616"/>
            <a:ext cx="46634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D42"/>
                </a:solidFill>
                <a:latin typeface="Aptos"/>
              </a:rPr>
              <a:t>•  Build the SR latch with two cross-coupled NOR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69664"/>
            <a:ext cx="46634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D42"/>
                </a:solidFill>
                <a:latin typeface="Aptos"/>
              </a:rPr>
              <a:t>•  Add inputs, clock, Q and Q̅ where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53712"/>
            <a:ext cx="46634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D42"/>
                </a:solidFill>
                <a:latin typeface="Aptos"/>
              </a:rPr>
              <a:t>•  Use Poke to change inputs and clock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880360"/>
            <a:ext cx="5376672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2880360"/>
            <a:ext cx="64008" cy="2514600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35808"/>
            <a:ext cx="49926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BEB5"/>
                </a:solidFill>
                <a:latin typeface="Aptos"/>
              </a:rPr>
              <a:t>TEST SEQUENCES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401568"/>
            <a:ext cx="4709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•  SR: 00 → 10 → 00 → 01 (hold, set, hold, reset)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03904"/>
            <a:ext cx="4709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•  D: test D = 0 then D = 1 at active 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206240"/>
            <a:ext cx="4709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•  JK: 00 → 10 → 01 →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608576"/>
            <a:ext cx="470916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D42"/>
                </a:solidFill>
                <a:latin typeface="Aptos"/>
              </a:rPr>
              <a:t>•  T: 0 → 1 → 1 (toggle on each active edge)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D1B35"/>
                </a:solidFill>
                <a:latin typeface="Aptos"/>
              </a:rPr>
              <a:t>Applications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804672"/>
            <a:ext cx="566928" cy="50292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6510528"/>
            <a:ext cx="20116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68B"/>
                </a:solidFill>
                <a:latin typeface="Aptos"/>
              </a:rPr>
              <a:t>06  •  SEQUENTIAL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349240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64008" cy="3246120"/>
          </a:xfrm>
          <a:prstGeom prst="rect">
            <a:avLst/>
          </a:prstGeom>
          <a:solidFill>
            <a:srgbClr val="307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98448"/>
            <a:ext cx="496519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77DB"/>
                </a:solidFill>
                <a:latin typeface="Aptos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46634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D42"/>
                </a:solidFill>
                <a:latin typeface="Aptos"/>
              </a:rPr>
              <a:t>•  Registers and temporary data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12848"/>
            <a:ext cx="46634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D42"/>
                </a:solidFill>
                <a:latin typeface="Aptos"/>
              </a:rPr>
              <a:t>•  Counters and frequency division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70048"/>
            <a:ext cx="46634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D42"/>
                </a:solidFill>
                <a:latin typeface="Aptos"/>
              </a:rPr>
              <a:t>•  State machines and control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27248"/>
            <a:ext cx="466344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2D42"/>
                </a:solidFill>
                <a:latin typeface="Aptos"/>
              </a:rPr>
              <a:t>•  Switch debouncing and timing circuits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143000"/>
            <a:ext cx="5376672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143000"/>
            <a:ext cx="64008" cy="3246120"/>
          </a:xfrm>
          <a:prstGeom prst="rect">
            <a:avLst/>
          </a:prstGeom>
          <a:solidFill>
            <a:srgbClr val="1DB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98448"/>
            <a:ext cx="4992624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DBEB5"/>
                </a:solidFill>
                <a:latin typeface="Aptos"/>
              </a:rPr>
              <a:t>KEY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55648"/>
            <a:ext cx="4663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SR latch stores one bit using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4663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D stores sampled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42032"/>
            <a:ext cx="4663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JK supports hold, set, reset and toggle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35224"/>
            <a:ext cx="4663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T toggles state when enabled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28415"/>
            <a:ext cx="4663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D42"/>
                </a:solidFill>
                <a:latin typeface="Aptos"/>
              </a:rPr>
              <a:t>•  Logisim verifies behaviour before hardware implementation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00600"/>
            <a:ext cx="10972800" cy="960120"/>
          </a:xfrm>
          <a:prstGeom prst="roundRect">
            <a:avLst>
              <a:gd name="adj" fmla="val 12000"/>
            </a:avLst>
          </a:prstGeom>
          <a:solidFill>
            <a:srgbClr val="0D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01768"/>
            <a:ext cx="104241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32120"/>
            <a:ext cx="104241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DBEB5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